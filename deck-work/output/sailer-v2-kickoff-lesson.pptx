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531307698140eb" /><Relationship Type="http://schemas.openxmlformats.org/officeDocument/2006/relationships/extended-properties" Target="/docProps/app.xml" Id="R2633b9d97e0146d3" /><Relationship Type="http://schemas.openxmlformats.org/officeDocument/2006/relationships/officeDocument" Target="/ppt/presentation.xml" Id="R743a4b06b25841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e9ffc7bb4747c1"/>
  </p:sldMasterIdLst>
  <p:notesMasterIdLst>
    <p:notesMasterId xmlns:r="http://schemas.openxmlformats.org/officeDocument/2006/relationships" r:id="Rec15e0c954e94348"/>
  </p:notesMasterIdLst>
  <p:sldIdLst>
    <p:sldId xmlns:r="http://schemas.openxmlformats.org/officeDocument/2006/relationships" id="256" r:id="R555078ebb4704ad1"/>
    <p:sldId xmlns:r="http://schemas.openxmlformats.org/officeDocument/2006/relationships" id="257" r:id="Re0450245220b48be"/>
    <p:sldId xmlns:r="http://schemas.openxmlformats.org/officeDocument/2006/relationships" id="258" r:id="R9c9abaf35e0e4f6d"/>
    <p:sldId xmlns:r="http://schemas.openxmlformats.org/officeDocument/2006/relationships" id="259" r:id="R974f01396ca748e5"/>
    <p:sldId xmlns:r="http://schemas.openxmlformats.org/officeDocument/2006/relationships" id="260" r:id="R218cf21b18eb4644"/>
    <p:sldId xmlns:r="http://schemas.openxmlformats.org/officeDocument/2006/relationships" id="261" r:id="R5e4fcf8e580d4a1a"/>
    <p:sldId xmlns:r="http://schemas.openxmlformats.org/officeDocument/2006/relationships" id="262" r:id="R22f251d58b2348e1"/>
    <p:sldId xmlns:r="http://schemas.openxmlformats.org/officeDocument/2006/relationships" id="263" r:id="R9f25f0b983be40bd"/>
    <p:sldId xmlns:r="http://schemas.openxmlformats.org/officeDocument/2006/relationships" id="264" r:id="R01d07084791c4f81"/>
    <p:sldId xmlns:r="http://schemas.openxmlformats.org/officeDocument/2006/relationships" id="265" r:id="R4ec9a7c106134889"/>
    <p:sldId xmlns:r="http://schemas.openxmlformats.org/officeDocument/2006/relationships" id="266" r:id="Rb0565fe34d254a07"/>
    <p:sldId xmlns:r="http://schemas.openxmlformats.org/officeDocument/2006/relationships" id="267" r:id="Rb1e939f60c9846a2"/>
    <p:sldId xmlns:r="http://schemas.openxmlformats.org/officeDocument/2006/relationships" id="268" r:id="Rf95b19eb726d4a49"/>
    <p:sldId xmlns:r="http://schemas.openxmlformats.org/officeDocument/2006/relationships" id="269" r:id="R4e0b88ebe0874677"/>
    <p:sldId xmlns:r="http://schemas.openxmlformats.org/officeDocument/2006/relationships" id="270" r:id="R63550d9bdb1f4dce"/>
    <p:sldId xmlns:r="http://schemas.openxmlformats.org/officeDocument/2006/relationships" id="271" r:id="R43699873d8444da2"/>
    <p:sldId xmlns:r="http://schemas.openxmlformats.org/officeDocument/2006/relationships" id="272" r:id="R235dfb3611174c6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9ffc7bb4747c1" /><Relationship Type="http://schemas.openxmlformats.org/officeDocument/2006/relationships/theme" Target="/ppt/theme/theme1.xml" Id="Rb40f696921db482f" /><Relationship Type="http://schemas.openxmlformats.org/officeDocument/2006/relationships/notesMaster" Target="/ppt/notesMasters/notesMaster1.xml" Id="Rec15e0c954e94348" /><Relationship Type="http://schemas.openxmlformats.org/officeDocument/2006/relationships/presProps" Target="/ppt/presProps.xml" Id="Ra92988010c2a4b3e" /><Relationship Type="http://schemas.openxmlformats.org/officeDocument/2006/relationships/viewProps" Target="/ppt/viewProps.xml" Id="R8601b9834b4d4520" /><Relationship Type="http://schemas.openxmlformats.org/officeDocument/2006/relationships/tableStyles" Target="/ppt/tableStyles.xml" Id="R82685fc1098c454f" /><Relationship Type="http://schemas.openxmlformats.org/officeDocument/2006/relationships/slide" Target="/ppt/slides/slide1.xml" Id="R555078ebb4704ad1" /><Relationship Type="http://schemas.openxmlformats.org/officeDocument/2006/relationships/slide" Target="/ppt/slides/slide2.xml" Id="Re0450245220b48be" /><Relationship Type="http://schemas.openxmlformats.org/officeDocument/2006/relationships/slide" Target="/ppt/slides/slide3.xml" Id="R9c9abaf35e0e4f6d" /><Relationship Type="http://schemas.openxmlformats.org/officeDocument/2006/relationships/slide" Target="/ppt/slides/slide4.xml" Id="R974f01396ca748e5" /><Relationship Type="http://schemas.openxmlformats.org/officeDocument/2006/relationships/slide" Target="/ppt/slides/slide5.xml" Id="R218cf21b18eb4644" /><Relationship Type="http://schemas.openxmlformats.org/officeDocument/2006/relationships/slide" Target="/ppt/slides/slide6.xml" Id="R5e4fcf8e580d4a1a" /><Relationship Type="http://schemas.openxmlformats.org/officeDocument/2006/relationships/slide" Target="/ppt/slides/slide7.xml" Id="R22f251d58b2348e1" /><Relationship Type="http://schemas.openxmlformats.org/officeDocument/2006/relationships/slide" Target="/ppt/slides/slide8.xml" Id="R9f25f0b983be40bd" /><Relationship Type="http://schemas.openxmlformats.org/officeDocument/2006/relationships/slide" Target="/ppt/slides/slide9.xml" Id="R01d07084791c4f81" /><Relationship Type="http://schemas.openxmlformats.org/officeDocument/2006/relationships/slide" Target="/ppt/slides/slide10.xml" Id="R4ec9a7c106134889" /><Relationship Type="http://schemas.openxmlformats.org/officeDocument/2006/relationships/slide" Target="/ppt/slides/slide11.xml" Id="Rb0565fe34d254a07" /><Relationship Type="http://schemas.openxmlformats.org/officeDocument/2006/relationships/slide" Target="/ppt/slides/slide12.xml" Id="Rb1e939f60c9846a2" /><Relationship Type="http://schemas.openxmlformats.org/officeDocument/2006/relationships/slide" Target="/ppt/slides/slide13.xml" Id="Rf95b19eb726d4a49" /><Relationship Type="http://schemas.openxmlformats.org/officeDocument/2006/relationships/slide" Target="/ppt/slides/slide14.xml" Id="R4e0b88ebe0874677" /><Relationship Type="http://schemas.openxmlformats.org/officeDocument/2006/relationships/slide" Target="/ppt/slides/slide15.xml" Id="R63550d9bdb1f4dce" /><Relationship Type="http://schemas.openxmlformats.org/officeDocument/2006/relationships/slide" Target="/ppt/slides/slide16.xml" Id="R43699873d8444da2" /><Relationship Type="http://schemas.openxmlformats.org/officeDocument/2006/relationships/slide" Target="/ppt/slides/slide17.xml" Id="R235dfb3611174c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7415181fc84e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77677178dd4f09" /><Relationship Type="http://schemas.openxmlformats.org/officeDocument/2006/relationships/notesMaster" Target="/ppt/notesMasters/notesMaster1.xml" Id="Rc4867829b89248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1c8ae0f04c4c17" /><Relationship Type="http://schemas.openxmlformats.org/officeDocument/2006/relationships/notesMaster" Target="/ppt/notesMasters/notesMaster1.xml" Id="R652dc12574d443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a66df589be4e1f" /><Relationship Type="http://schemas.openxmlformats.org/officeDocument/2006/relationships/notesMaster" Target="/ppt/notesMasters/notesMaster1.xml" Id="R147e1e960a944f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1bd188c7f54760" /><Relationship Type="http://schemas.openxmlformats.org/officeDocument/2006/relationships/notesMaster" Target="/ppt/notesMasters/notesMaster1.xml" Id="R901707b3ba2f48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3f7e6681674152" /><Relationship Type="http://schemas.openxmlformats.org/officeDocument/2006/relationships/notesMaster" Target="/ppt/notesMasters/notesMaster1.xml" Id="R229228973ad048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a610b1f6714666" /><Relationship Type="http://schemas.openxmlformats.org/officeDocument/2006/relationships/notesMaster" Target="/ppt/notesMasters/notesMaster1.xml" Id="R60aa78235cf34c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b12af991f8436b" /><Relationship Type="http://schemas.openxmlformats.org/officeDocument/2006/relationships/notesMaster" Target="/ppt/notesMasters/notesMaster1.xml" Id="Rb94a7665fd1b45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8253dc969a417d" /><Relationship Type="http://schemas.openxmlformats.org/officeDocument/2006/relationships/notesMaster" Target="/ppt/notesMasters/notesMaster1.xml" Id="Red295ba6da1348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6971eeb9ca4281" /><Relationship Type="http://schemas.openxmlformats.org/officeDocument/2006/relationships/notesMaster" Target="/ppt/notesMasters/notesMaster1.xml" Id="R68fe506ff87c49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31690d72884a21" /><Relationship Type="http://schemas.openxmlformats.org/officeDocument/2006/relationships/notesMaster" Target="/ppt/notesMasters/notesMaster1.xml" Id="R97e76ef570fd4b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8833c4477d4af6" /><Relationship Type="http://schemas.openxmlformats.org/officeDocument/2006/relationships/notesMaster" Target="/ppt/notesMasters/notesMaster1.xml" Id="R77df9606f48644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c4dba367844487" /><Relationship Type="http://schemas.openxmlformats.org/officeDocument/2006/relationships/notesMaster" Target="/ppt/notesMasters/notesMaster1.xml" Id="Rcbfbe0fd4a1740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9a6da2bdd249b3" /><Relationship Type="http://schemas.openxmlformats.org/officeDocument/2006/relationships/notesMaster" Target="/ppt/notesMasters/notesMaster1.xml" Id="R67aa69d52cf74a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2bd8a3379b4095" /><Relationship Type="http://schemas.openxmlformats.org/officeDocument/2006/relationships/notesMaster" Target="/ppt/notesMasters/notesMaster1.xml" Id="R7e1910ab8e104e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f971b483d646e4" /><Relationship Type="http://schemas.openxmlformats.org/officeDocument/2006/relationships/notesMaster" Target="/ppt/notesMasters/notesMaster1.xml" Id="R93d8952ddede40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8772fbf9f7451b" /><Relationship Type="http://schemas.openxmlformats.org/officeDocument/2006/relationships/notesMaster" Target="/ppt/notesMasters/notesMaster1.xml" Id="R9f327cfe8c1f44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b2e623f7d64708" /><Relationship Type="http://schemas.openxmlformats.org/officeDocument/2006/relationships/notesMaster" Target="/ppt/notesMasters/notesMaster1.xml" Id="Ra3d1d2cb1b3948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d77371b37c484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af2b4db7b9c4fe1" /><Relationship Type="http://schemas.openxmlformats.org/officeDocument/2006/relationships/slideLayout" Target="/ppt/slideLayouts/slideLayout2.xml" Id="Rc1219b3486c143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219b3486c143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261fcd4dc44e9f" /><Relationship Type="http://schemas.openxmlformats.org/officeDocument/2006/relationships/notesSlide" Target="/ppt/notesSlides/notesSlide1.xml" Id="R0951707aaf4a46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eca79839654607" /><Relationship Type="http://schemas.openxmlformats.org/officeDocument/2006/relationships/notesSlide" Target="/ppt/notesSlides/notesSlide2.xml" Id="R4d722ce20e5a4f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698c81513d4d98" /><Relationship Type="http://schemas.openxmlformats.org/officeDocument/2006/relationships/notesSlide" Target="/ppt/notesSlides/notesSlide3.xml" Id="R43964576047144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332529b5074f6f" /><Relationship Type="http://schemas.openxmlformats.org/officeDocument/2006/relationships/notesSlide" Target="/ppt/notesSlides/notesSlide4.xml" Id="R0af8f2e40b4842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b5bd921f434c0e" /><Relationship Type="http://schemas.openxmlformats.org/officeDocument/2006/relationships/notesSlide" Target="/ppt/notesSlides/notesSlide5.xml" Id="R3dd94622199a4a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6a0544a8fb422a" /><Relationship Type="http://schemas.openxmlformats.org/officeDocument/2006/relationships/notesSlide" Target="/ppt/notesSlides/notesSlide6.xml" Id="R8d84a205b9d94c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66e23685e34823" /><Relationship Type="http://schemas.openxmlformats.org/officeDocument/2006/relationships/notesSlide" Target="/ppt/notesSlides/notesSlide7.xml" Id="R43c0ad0746d149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765994b2f04947" /><Relationship Type="http://schemas.openxmlformats.org/officeDocument/2006/relationships/notesSlide" Target="/ppt/notesSlides/notesSlide8.xml" Id="Rcfd32e7cec4e4f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e40bb783a54bd8" /><Relationship Type="http://schemas.openxmlformats.org/officeDocument/2006/relationships/notesSlide" Target="/ppt/notesSlides/notesSlide9.xml" Id="R8383ae68616b4f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4d1054f2f04c23" /><Relationship Type="http://schemas.openxmlformats.org/officeDocument/2006/relationships/notesSlide" Target="/ppt/notesSlides/notesSlide10.xml" Id="Re2a1f69a0e614c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38fd07d48f4003" /><Relationship Type="http://schemas.openxmlformats.org/officeDocument/2006/relationships/notesSlide" Target="/ppt/notesSlides/notesSlide11.xml" Id="R8d7477f914e349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27274763dd466e" /><Relationship Type="http://schemas.openxmlformats.org/officeDocument/2006/relationships/notesSlide" Target="/ppt/notesSlides/notesSlide12.xml" Id="R40f141fd920541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aa34ced1544ae5" /><Relationship Type="http://schemas.openxmlformats.org/officeDocument/2006/relationships/notesSlide" Target="/ppt/notesSlides/notesSlide13.xml" Id="Re2626e34d7e945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be5b9a954547f6" /><Relationship Type="http://schemas.openxmlformats.org/officeDocument/2006/relationships/notesSlide" Target="/ppt/notesSlides/notesSlide14.xml" Id="R9aca7f9d792b42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4e3d8058a43ba" /><Relationship Type="http://schemas.openxmlformats.org/officeDocument/2006/relationships/notesSlide" Target="/ppt/notesSlides/notesSlide15.xml" Id="Re3628252fb7c4f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44edb3e9954e23" /><Relationship Type="http://schemas.openxmlformats.org/officeDocument/2006/relationships/notesSlide" Target="/ppt/notesSlides/notesSlide16.xml" Id="R95c179da7e9a47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d91729ce5c4206" /><Relationship Type="http://schemas.openxmlformats.org/officeDocument/2006/relationships/notesSlide" Target="/ppt/notesSlides/notesSlide17.xml" Id="R96fb195565364b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F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F5E7B6-9866-44C2-86D3-7E32BBFA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F43"/>
          </a:solidFill>
          <a:ln xmlns:a="http://schemas.openxmlformats.org/drawingml/2006/main" w="0">
            <a:solidFill>
              <a:srgbClr val="0F2F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91DC7-B41F-4E61-988D-18751137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990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AI CLUB / SAILER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10536-761B-4F0D-91FA-0565192F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99060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用 AI 共建</a:t>
            </a:r>
          </a:p>
          <a:p xmlns:a="http://schemas.openxmlformats.org/drawingml/2006/main">
            <a:pPr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2.5D 帆船训练模拟器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878D4-8F35-4084-B7AB-6A5E6A4B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8248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9E5EF"/>
                </a:solidFill>
              </a:defRPr>
            </a:pPr>
            <a:r>
              <a:rPr sz="2250" b="0">
                <a:solidFill>
                  <a:srgbClr val="C9E5EF"/>
                </a:solidFill>
              </a:rPr>
              <a:t>80 分钟启动课：从真实帆船到工程系统，再到 Codex 可执行需求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5A1F7-B7A1-4356-9EE9-3BDE29DC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62700"/>
            <a:ext cx="800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3F55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89E95-4211-4124-B9C2-85B2F2F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57950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观察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56CC9-637D-4484-8AEA-D3FA3685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362700"/>
            <a:ext cx="800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3F55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0488C-9454-4AAB-B11D-2066F0DD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457950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D4BF"/>
                </a:solidFill>
              </a:defRPr>
            </a:pPr>
            <a:r>
              <a:rPr sz="1650" b="1">
                <a:solidFill>
                  <a:srgbClr val="2DD4BF"/>
                </a:solidFill>
              </a:rPr>
              <a:t>抽象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11C61-0052-49D3-BE60-8229F257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362700"/>
            <a:ext cx="800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3F55"/>
          </a:solidFill>
          <a:ln xmlns:a="http://schemas.openxmlformats.org/drawingml/2006/main" w="9525">
            <a:solidFill>
              <a:srgbClr val="F4B7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4A935-7A58-4A7A-BF6B-CF8DE3C1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457950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B740"/>
                </a:solidFill>
              </a:defRPr>
            </a:pPr>
            <a:r>
              <a:rPr sz="1650" b="1">
                <a:solidFill>
                  <a:srgbClr val="F4B740"/>
                </a:solidFill>
              </a:rPr>
              <a:t>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E5FD7-8944-434B-8685-67D4AADD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62700"/>
            <a:ext cx="1063752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3F55"/>
          </a:solidFill>
          <a:ln xmlns:a="http://schemas.openxmlformats.org/drawingml/2006/main" w="9525">
            <a:solidFill>
              <a:srgbClr val="F973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99103-4B21-4848-8B58-A0FC4DA4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57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9735B"/>
                </a:solidFill>
              </a:defRPr>
            </a:pPr>
            <a:r>
              <a:rPr sz="1650" b="1">
                <a:solidFill>
                  <a:srgbClr val="F9735B"/>
                </a:solidFill>
              </a:rPr>
              <a:t>驾驭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B4D6F-2A27-43AD-948A-56669E2A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2286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D52"/>
          </a:solidFill>
          <a:ln xmlns:a="http://schemas.openxmlformats.org/drawingml/2006/main" w="19050">
            <a:solidFill>
              <a:srgbClr val="2C6B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6A693-CF97-41C2-93F4-7D71ACD2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048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66E"/>
          </a:solidFill>
          <a:ln xmlns:a="http://schemas.openxmlformats.org/drawingml/2006/main" w="0">
            <a:solidFill>
              <a:srgbClr val="155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7FA40-32AA-4DC4-A09F-A4B21CA2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4419600"/>
            <a:ext cx="2552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V1 → V2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A25F3-57B7-4DCC-BAA9-70C3EB8E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486650"/>
            <a:ext cx="4686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AI 可以帮我们造船，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但我们必须先知道什么样的船是对的。</a:t>
            </a:r>
          </a:p>
        </p:txBody>
      </p:sp>
    </p:spTree>
    <p:extLst>
      <p:ext uri="{BB962C8B-B14F-4D97-AF65-F5344CB8AC3E}">
        <p14:creationId xmlns:p14="http://schemas.microsoft.com/office/powerpoint/2010/main" val="753737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4AE10-6363-451B-AAC4-287849BB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760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68EBF-8AEA-41C9-89E6-944E61F8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76009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033"/>
                </a:solidFill>
              </a:defRPr>
            </a:pPr>
            <a:r>
              <a:rPr sz="4650" b="1">
                <a:solidFill>
                  <a:srgbClr val="102033"/>
                </a:solidFill>
              </a:rPr>
              <a:t>今天不是写代码课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4950D-034E-43E2-8132-7058E6F6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6515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84"/>
                </a:solidFill>
              </a:defRPr>
            </a:pPr>
            <a:r>
              <a:rPr sz="2100" b="0">
                <a:solidFill>
                  <a:srgbClr val="617084"/>
                </a:solidFill>
              </a:rPr>
              <a:t>而是定义问题、建立判断、组织 AI 协作的项目启动课。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45FE6-1013-4D8A-BB43-30DF2D03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C8B65-E414-442B-9A20-3AF8178E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76009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代码可以交给 AI 加速，但方向、真实感、教学价值和验收标准必须由人定义。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867AA-C3EA-4AE1-A1AF-175683C6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799" y="723900"/>
            <a:ext cx="8411051" cy="280670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A8B97-6D46-4E02-8F80-DC69C044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09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50B39-F252-4888-A7AB-2BE22D58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952500"/>
            <a:ext cx="762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9735B"/>
                </a:solidFill>
              </a:defRPr>
            </a:pPr>
            <a:r>
              <a:rPr sz="2100" b="1">
                <a:solidFill>
                  <a:srgbClr val="F9735B"/>
                </a:solidFill>
              </a:rPr>
              <a:t>不是：大家围观一个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2A8FB-1C37-49F3-9FF6-3B1B7A0D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52550"/>
            <a:ext cx="788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那样学生只是观众，项目容易变成老师和 AI 的表演。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920E4-242D-4A96-B414-AD4D3ADA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799" y="3740150"/>
            <a:ext cx="8411051" cy="280670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67BC2-32DD-45D1-A171-1D20D40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19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06CF1-0EE6-4028-AEF6-804CE8FF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62400"/>
            <a:ext cx="762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490"/>
                </a:solidFill>
              </a:defRPr>
            </a:pPr>
            <a:r>
              <a:rPr sz="2100" b="1">
                <a:solidFill>
                  <a:srgbClr val="0E7490"/>
                </a:solidFill>
              </a:rPr>
              <a:t>而是：大家负责高质量判断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2D5B2-730D-48C5-83E8-775CEDC1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62450"/>
            <a:ext cx="788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帆船学生提供真实经验，VEX 学生拆系统，记录组转需求，Codex 统一实现。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4E97D-BE5B-4E6B-9EE6-74CCDAD5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799" y="6756400"/>
            <a:ext cx="8411051" cy="280670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17803-26B7-4108-A7E0-0DA0FF2A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048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BB417-4D86-4147-A786-6FB71A46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991350"/>
            <a:ext cx="762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6CF2"/>
                </a:solidFill>
              </a:defRPr>
            </a:pPr>
            <a:r>
              <a:rPr sz="2100" b="1">
                <a:solidFill>
                  <a:srgbClr val="7C6CF2"/>
                </a:solidFill>
              </a:rPr>
              <a:t>最后：用结果反过来验收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AA4D2-A63F-43F8-9417-0369546E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391400"/>
            <a:ext cx="788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AI 生成的东西不等于真实、专业、好用。我们要能审查它。</a:t>
            </a:r>
          </a:p>
        </p:txBody>
      </p:sp>
    </p:spTree>
    <p:extLst>
      <p:ext uri="{BB962C8B-B14F-4D97-AF65-F5344CB8AC3E}">
        <p14:creationId xmlns:p14="http://schemas.microsoft.com/office/powerpoint/2010/main" val="11431647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3607A3-4320-435C-8FB2-DFA34B7C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AI ERA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2B840-EEDF-4DAD-B0D3-ED86B6E2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033"/>
                </a:solidFill>
              </a:defRPr>
            </a:pPr>
            <a:r>
              <a:rPr sz="4650" b="1">
                <a:solidFill>
                  <a:srgbClr val="102033"/>
                </a:solidFill>
              </a:rPr>
              <a:t>人在 AI 协作链条中的 6 个角色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3537E-CB92-4EA1-9F1A-1D765926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30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84"/>
                </a:solidFill>
              </a:defRPr>
            </a:pPr>
            <a:r>
              <a:rPr sz="2100" b="0">
                <a:solidFill>
                  <a:srgbClr val="617084"/>
                </a:solidFill>
              </a:rPr>
              <a:t>这节课不是让学生被 AI 替代，而是练习如何驾驭 AI。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0CF3D-1145-49B9-81A6-50166E39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4102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B0D33-2DCC-4A1D-9CFF-A75BB514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ED313-D196-4FF8-8366-F62A8848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490"/>
                </a:solidFill>
              </a:defRPr>
            </a:pPr>
            <a:r>
              <a:rPr sz="2100" b="1">
                <a:solidFill>
                  <a:srgbClr val="0E7490"/>
                </a:solidFill>
              </a:rPr>
              <a:t>观察者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74867-449A-48CC-9764-CB8B2884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487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先看真实帆船发生了什么，而不是先问 AI。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A146A-D0D5-48B2-BEE6-6B8C6878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4102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7AF5A-05B5-4FEF-86A1-A2CA19A4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4826A-C515-45BD-993F-C2397D60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98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D4BF"/>
                </a:solidFill>
              </a:defRPr>
            </a:pPr>
            <a:r>
              <a:rPr sz="2100" b="1">
                <a:solidFill>
                  <a:srgbClr val="2DD4BF"/>
                </a:solidFill>
              </a:rPr>
              <a:t>抽象者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DE948-4E48-490A-BE6B-AAAC39ED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4876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把复杂世界拆成环境、帆、船体、舵、稳向板、人。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7634B-D97A-44DC-809F-9ABF5E78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381250"/>
            <a:ext cx="54102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9A1DF-0F6E-40A1-8CD9-5B56DB9A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667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solidFill>
              <a:srgbClr val="F4B7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717DA-1AC6-4426-90FE-D3AAF1CE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6098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B740"/>
                </a:solidFill>
              </a:defRPr>
            </a:pPr>
            <a:r>
              <a:rPr sz="2100" b="1">
                <a:solidFill>
                  <a:srgbClr val="F4B740"/>
                </a:solidFill>
              </a:rPr>
              <a:t>提问者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1C2A9-B6B8-486F-9EFC-735DB68F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009900"/>
            <a:ext cx="487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把模糊愿望变成 AI 能执行的高质量 prompt。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17B07-5B8A-4253-98B1-7A261362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54102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C1C76-C366-4A79-9F9D-90B5160E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0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5B8EE-17C6-4624-B7D5-3F79EC10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436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9735B"/>
                </a:solidFill>
              </a:defRPr>
            </a:pPr>
            <a:r>
              <a:rPr sz="2100" b="1">
                <a:solidFill>
                  <a:srgbClr val="F9735B"/>
                </a:solidFill>
              </a:rPr>
              <a:t>判断者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B6475-F39F-4DA4-92DD-813ECD68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743700"/>
            <a:ext cx="487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判断 AI 方案是否真实、专业、值得做。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2FD9F-200B-42D0-BA66-A5087E50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115050"/>
            <a:ext cx="54102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22566-C140-4987-8FFB-F2D4F18D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0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A45911-3984-4075-8E61-8AA1DA62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3436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6CF2"/>
                </a:solidFill>
              </a:defRPr>
            </a:pPr>
            <a:r>
              <a:rPr sz="2100" b="1">
                <a:solidFill>
                  <a:srgbClr val="7C6CF2"/>
                </a:solidFill>
              </a:rPr>
              <a:t>验收者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F2B28-39CA-4842-994D-A3EE1561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743700"/>
            <a:ext cx="487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定义什么叫完成，什么叫改好了。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2E24CD-084B-400B-8F71-DEA3FAB6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115050"/>
            <a:ext cx="54102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D1714-B838-4BD2-AA10-3F919552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40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F511F4-23EE-49D4-A9ED-DEB6131D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3436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A5E9"/>
                </a:solidFill>
              </a:defRPr>
            </a:pPr>
            <a:r>
              <a:rPr sz="2100" b="1">
                <a:solidFill>
                  <a:srgbClr val="0EA5E9"/>
                </a:solidFill>
              </a:rPr>
              <a:t>价值定义者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C8804-2B1E-4459-B0F8-8951106F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743700"/>
            <a:ext cx="487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决定项目为什么值得做，而不是只追求酷。</a:t>
            </a:r>
          </a:p>
        </p:txBody>
      </p:sp>
    </p:spTree>
    <p:extLst>
      <p:ext uri="{BB962C8B-B14F-4D97-AF65-F5344CB8AC3E}">
        <p14:creationId xmlns:p14="http://schemas.microsoft.com/office/powerpoint/2010/main" val="641687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E98C31-0506-4E4B-BEE5-D9B0320C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685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80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B0A5B-93AB-439E-88CD-1C52E8B4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685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033"/>
                </a:solidFill>
              </a:defRPr>
            </a:pPr>
            <a:r>
              <a:rPr sz="4650" b="1">
                <a:solidFill>
                  <a:srgbClr val="102033"/>
                </a:solidFill>
              </a:rPr>
              <a:t>课堂路线图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2F543-302B-4CFF-A8BF-1DE5078D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723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84"/>
                </a:solidFill>
              </a:defRPr>
            </a:pPr>
            <a:r>
              <a:rPr sz="2100" b="0">
                <a:solidFill>
                  <a:srgbClr val="617084"/>
                </a:solidFill>
              </a:rPr>
              <a:t>先建立自己的判断，再审查 V1，最后把讨论变成 V2 的需求。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B2B4A-29E1-42FD-BC8A-60EF5321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685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E7490"/>
                </a:solidFill>
              </a:defRPr>
            </a:pPr>
            <a:r>
              <a:rPr sz="2250" b="1">
                <a:solidFill>
                  <a:srgbClr val="0E7490"/>
                </a:solidFill>
              </a:rPr>
              <a:t>顺序很重要：先看 V1 会被锚定；先分析现实，学生会成为评审者。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6845D-A452-4762-A1E9-425EF886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4" y="3114675"/>
            <a:ext cx="1143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F43"/>
          </a:solidFill>
          <a:ln xmlns:a="http://schemas.openxmlformats.org/drawingml/2006/main" w="0">
            <a:solidFill>
              <a:srgbClr val="0F2F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FC954-70AE-470B-88BD-BFD35917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00-10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B5C43-734D-460F-B761-642DB1C3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2420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033"/>
                </a:solidFill>
              </a:defRPr>
            </a:pPr>
            <a:r>
              <a:rPr sz="2100" b="1">
                <a:solidFill>
                  <a:srgbClr val="102033"/>
                </a:solidFill>
              </a:rPr>
              <a:t>开场与 AI 时代人的角色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5E859-8940-4D12-8B63-71EB5DE9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480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084"/>
                </a:solidFill>
              </a:defRPr>
            </a:pPr>
            <a:r>
              <a:rPr sz="1650" b="0">
                <a:solidFill>
                  <a:srgbClr val="617084"/>
                </a:solidFill>
              </a:rPr>
              <a:t>为什么 AI 会写代码后，人仍然更关键。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81D72-9048-4ACB-B45A-F962FF1A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4" y="3819525"/>
            <a:ext cx="1143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FB198-C5E5-47D8-9E22-F0872D96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10-23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5BA8C-19D9-49A6-872B-C5A0B19D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2905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033"/>
                </a:solidFill>
              </a:defRPr>
            </a:pPr>
            <a:r>
              <a:rPr sz="2100" b="1">
                <a:solidFill>
                  <a:srgbClr val="102033"/>
                </a:solidFill>
              </a:rPr>
              <a:t>真实帆船因素头脑风暴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3B971-34F9-46B7-9428-0F4941AB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5290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084"/>
                </a:solidFill>
              </a:defRPr>
            </a:pPr>
            <a:r>
              <a:rPr sz="1650" b="0">
                <a:solidFill>
                  <a:srgbClr val="617084"/>
                </a:solidFill>
              </a:rPr>
              <a:t>先不看 V1，从真实世界列因素。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1AE15-1AC5-4D5B-8B09-6CC0742B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4" y="4524375"/>
            <a:ext cx="1143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91376-1463-441C-83FA-E6510122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053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23-38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05E86-DE6B-49B0-A4A3-698766B1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3390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033"/>
                </a:solidFill>
              </a:defRPr>
            </a:pPr>
            <a:r>
              <a:rPr sz="2100" b="1">
                <a:solidFill>
                  <a:srgbClr val="102033"/>
                </a:solidFill>
              </a:rPr>
              <a:t>抽象成系统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8A546-C82E-4894-950C-396BEEF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577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084"/>
                </a:solidFill>
              </a:defRPr>
            </a:pPr>
            <a:r>
              <a:rPr sz="1650" b="0">
                <a:solidFill>
                  <a:srgbClr val="617084"/>
                </a:solidFill>
              </a:rPr>
              <a:t>把因素归类成输入、状态、输出。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4F855-78C4-41C2-B92C-64DA6CD6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4" y="5229225"/>
            <a:ext cx="1143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740"/>
          </a:solidFill>
          <a:ln xmlns:a="http://schemas.openxmlformats.org/drawingml/2006/main" w="0">
            <a:solidFill>
              <a:srgbClr val="F4B7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E7774-D4D1-435E-B070-2180B553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102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38-48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2DCF2-ECFE-4D05-9F82-900625A6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3875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033"/>
                </a:solidFill>
              </a:defRPr>
            </a:pPr>
            <a:r>
              <a:rPr sz="2100" b="1">
                <a:solidFill>
                  <a:srgbClr val="102033"/>
                </a:solidFill>
              </a:rPr>
              <a:t>展示并试玩 V1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D674C-0170-41A1-A95C-0FA89530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6260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084"/>
                </a:solidFill>
              </a:defRPr>
            </a:pPr>
            <a:r>
              <a:rPr sz="1650" b="0">
                <a:solidFill>
                  <a:srgbClr val="617084"/>
                </a:solidFill>
              </a:rPr>
              <a:t>用刚才的系统图审查原型。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FEC75-F59E-414B-8B0C-9845EE82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4" y="5934075"/>
            <a:ext cx="1143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EA5E1-9E56-4119-A0A1-47938D1D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1150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48-69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67C38-A8F8-4FA8-8A2B-A61083A8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94360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033"/>
                </a:solidFill>
              </a:defRPr>
            </a:pPr>
            <a:r>
              <a:rPr sz="2100" b="1">
                <a:solidFill>
                  <a:srgbClr val="102033"/>
                </a:solidFill>
              </a:rPr>
              <a:t>评审 V1，定义 V2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0B32B-68CC-4B92-834D-485CAA7F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2674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084"/>
                </a:solidFill>
              </a:defRPr>
            </a:pPr>
            <a:r>
              <a:rPr sz="1650" b="0">
                <a:solidFill>
                  <a:srgbClr val="617084"/>
                </a:solidFill>
              </a:rPr>
              <a:t>投票选最高价值的 2-3 个方向。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677625-7135-4506-A7C1-78EE9CF6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4" y="6638925"/>
            <a:ext cx="1143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FBA6BD-0461-4133-949B-4E53A5A8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8199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69-80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FC25DE-AC0D-4E3D-8448-AF5AAAE9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648450"/>
            <a:ext cx="792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033"/>
                </a:solidFill>
              </a:defRPr>
            </a:pPr>
            <a:r>
              <a:rPr sz="2100" b="1">
                <a:solidFill>
                  <a:srgbClr val="102033"/>
                </a:solidFill>
              </a:rPr>
              <a:t>豆包总结 -&gt; Codex 需求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BC6E0-5255-418B-92DC-27C75CD8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97230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084"/>
                </a:solidFill>
              </a:defRPr>
            </a:pPr>
            <a:r>
              <a:rPr sz="1650" b="0">
                <a:solidFill>
                  <a:srgbClr val="617084"/>
                </a:solidFill>
              </a:rPr>
              <a:t>现场校正会议纪要，形成课后执行框架。</a:t>
            </a:r>
          </a:p>
        </p:txBody>
      </p:sp>
    </p:spTree>
    <p:extLst>
      <p:ext uri="{BB962C8B-B14F-4D97-AF65-F5344CB8AC3E}">
        <p14:creationId xmlns:p14="http://schemas.microsoft.com/office/powerpoint/2010/main" val="1315980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900F94-FCE6-4061-860F-E180359E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0">
            <a:solidFill>
              <a:srgbClr val="0B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D77EC-7C23-49BA-8289-97E933CB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781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SECTION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8AF05-E701-4A60-A9FA-DAE4A4D1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7810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先不看 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63787-5A87-4DE1-A8E2-940CFF25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7DBE5"/>
                </a:solidFill>
              </a:defRPr>
            </a:pPr>
            <a:r>
              <a:rPr sz="2250" b="0">
                <a:solidFill>
                  <a:srgbClr val="C7DBE5"/>
                </a:solidFill>
              </a:rPr>
              <a:t>从真实帆船出发，建立自己的观察和判断。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9B403-FCE7-4E7E-8739-66C7F2C7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3622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176FB-FA81-4B04-BE61-76E1BC06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534150"/>
            <a:ext cx="8001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0B1827"/>
                </a:solidFill>
              </a:defRPr>
            </a:pPr>
            <a:r>
              <a:rPr sz="11250" b="1">
                <a:solidFill>
                  <a:srgbClr val="0B1827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23171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60713C-CD84-4BB5-8894-CAF766A2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8058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REALITY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CF2E7-7020-4DCE-9A03-C65A5706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8058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033"/>
                </a:solidFill>
              </a:defRPr>
            </a:pPr>
            <a:r>
              <a:rPr sz="4650" b="1">
                <a:solidFill>
                  <a:srgbClr val="102033"/>
                </a:solidFill>
              </a:rPr>
              <a:t>真实帆船到底发生了什么？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7F6FF-C3EA-4D5F-A8B9-D6702F65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480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84"/>
                </a:solidFill>
              </a:defRPr>
            </a:pPr>
            <a:r>
              <a:rPr sz="2100" b="0">
                <a:solidFill>
                  <a:srgbClr val="617084"/>
                </a:solidFill>
              </a:rPr>
              <a:t>不要急着做功能，先把真实现象说出来。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96F38-EB2B-4958-8205-2F247CDF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1273302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F"/>
          </a:solidFill>
          <a:ln xmlns:a="http://schemas.openxmlformats.org/drawingml/2006/main" w="9525">
            <a:solidFill>
              <a:srgbClr val="F973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04E3F-C3EE-4E36-A676-0CED88AF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67400"/>
            <a:ext cx="89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9735B"/>
                </a:solidFill>
              </a:defRPr>
            </a:pPr>
            <a:r>
              <a:rPr sz="1650" b="1">
                <a:solidFill>
                  <a:srgbClr val="F9735B"/>
                </a:solidFill>
              </a:rPr>
              <a:t>先不用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3022D-D554-4F78-84D2-2B5EA049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702" y="5762625"/>
            <a:ext cx="1428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F3A6A-5A26-4E63-8023-2E1C5FB4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674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7490"/>
                </a:solidFill>
              </a:defRPr>
            </a:pPr>
            <a:r>
              <a:rPr sz="1650" b="1">
                <a:solidFill>
                  <a:srgbClr val="0E7490"/>
                </a:solidFill>
              </a:rPr>
              <a:t>先不用代码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A1DD7-BAE7-46D3-97BF-55F97874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5762625"/>
            <a:ext cx="1219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5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ABE64-60D8-448E-989A-101DA2AD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6740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D4BF"/>
                </a:solidFill>
              </a:defRPr>
            </a:pPr>
            <a:r>
              <a:rPr sz="1650" b="1">
                <a:solidFill>
                  <a:srgbClr val="2DD4BF"/>
                </a:solidFill>
              </a:rPr>
              <a:t>先说观察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21CB5-7698-44E7-8BD2-5DAD914F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1B199-38F2-4FFA-9464-CFF91FE6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957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033"/>
                </a:solidFill>
              </a:defRPr>
            </a:pPr>
            <a:r>
              <a:rPr sz="2100" b="0">
                <a:solidFill>
                  <a:srgbClr val="102033"/>
                </a:solidFill>
              </a:rPr>
              <a:t>船为什么会动？为什么会慢？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3A757-9F1D-470E-AFAC-C6EB1FE5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D528A-6D6F-4BB6-8CC5-0AD9EB46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529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033"/>
                </a:solidFill>
              </a:defRPr>
            </a:pPr>
            <a:r>
              <a:rPr sz="2100" b="0">
                <a:solidFill>
                  <a:srgbClr val="102033"/>
                </a:solidFill>
              </a:rPr>
              <a:t>为什么能逆风前进，但不能直接顶风？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F5646-E865-4251-87C9-A0C0364D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0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4EC24-EE3A-4BA0-B4C3-28ED8B02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101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033"/>
                </a:solidFill>
              </a:defRPr>
            </a:pPr>
            <a:r>
              <a:rPr sz="2100" b="0">
                <a:solidFill>
                  <a:srgbClr val="102033"/>
                </a:solidFill>
              </a:rPr>
              <a:t>为什么会侧滑？稳向板到底做了什么？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6C366-4E42-4334-B536-21D306ED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67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solidFill>
              <a:srgbClr val="F4B7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E3877-E9A8-4782-BD26-DA8A9301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4673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033"/>
                </a:solidFill>
              </a:defRPr>
            </a:pPr>
            <a:r>
              <a:rPr sz="2100" b="0">
                <a:solidFill>
                  <a:srgbClr val="102033"/>
                </a:solidFill>
              </a:rPr>
              <a:t>为什么会横倾？人坐的位置为什么重要？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D3029-CC7B-4C3B-A7FE-F4E9F1D8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24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BA942-923D-40D0-B869-8D38629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9245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033"/>
                </a:solidFill>
              </a:defRPr>
            </a:pPr>
            <a:r>
              <a:rPr sz="2100" b="0">
                <a:solidFill>
                  <a:srgbClr val="102033"/>
                </a:solidFill>
              </a:rPr>
              <a:t>风变了之后，船手应该调整什么？</a:t>
            </a:r>
          </a:p>
        </p:txBody>
      </p:sp>
    </p:spTree>
    <p:extLst>
      <p:ext uri="{BB962C8B-B14F-4D97-AF65-F5344CB8AC3E}">
        <p14:creationId xmlns:p14="http://schemas.microsoft.com/office/powerpoint/2010/main" val="6190165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E8996F-0E4F-4DA1-A765-B908A5B0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BRAINSTORM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BF36C-B903-4D21-A27B-E1ACEBC7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16802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033"/>
                </a:solidFill>
              </a:defRPr>
            </a:pPr>
            <a:r>
              <a:rPr sz="4650" b="1">
                <a:solidFill>
                  <a:srgbClr val="102033"/>
                </a:solidFill>
              </a:rPr>
              <a:t>把真实因素摊开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DA9E6-ABBB-49FB-9D1C-1B9F4814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53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84"/>
                </a:solidFill>
              </a:defRPr>
            </a:pPr>
            <a:r>
              <a:rPr sz="2100" b="0">
                <a:solidFill>
                  <a:srgbClr val="617084"/>
                </a:solidFill>
              </a:rPr>
              <a:t>这一页是课堂白板：先求多，再归类。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F2AF8-6614-4844-BDA1-EB9A65A1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057650" cy="3629025"/>
          </a:xfrm>
          <a:prstGeom xmlns:a="http://schemas.openxmlformats.org/drawingml/2006/main" prst="roundRect">
            <a:avLst>
              <a:gd name="adj" fmla="val 21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DA916-B4B5-42B3-AEC1-5A984FE9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90C8F-0283-4D95-806C-644CEC79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7650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49901-E45C-496D-8E94-1AF97178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3524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真风、视风、风速、风向、阵风、风摆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E5470-9C18-4C39-84EC-DCB70ACA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47900"/>
            <a:ext cx="4057650" cy="3629025"/>
          </a:xfrm>
          <a:prstGeom xmlns:a="http://schemas.openxmlformats.org/drawingml/2006/main" prst="roundRect">
            <a:avLst>
              <a:gd name="adj" fmla="val 21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E220D-7DE3-44BA-8CD0-21A50638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33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89F47-4A74-4922-BB1D-9DCC7945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490"/>
                </a:solidFill>
              </a:defRPr>
            </a:pPr>
            <a:r>
              <a:rPr sz="2100" b="1">
                <a:solidFill>
                  <a:srgbClr val="0E7490"/>
                </a:solidFill>
              </a:rPr>
              <a:t>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00DD6-E7E7-4CAA-83FA-4618B1F7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76550"/>
            <a:ext cx="352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水流、浪、相对水流、侧向抗力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F6B77-52B7-4CB1-BD73-FD9D4808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47900"/>
            <a:ext cx="4057650" cy="3629025"/>
          </a:xfrm>
          <a:prstGeom xmlns:a="http://schemas.openxmlformats.org/drawingml/2006/main" prst="roundRect">
            <a:avLst>
              <a:gd name="adj" fmla="val 21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60E5A-C3CB-4CE8-B10E-4EFB6F45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33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solidFill>
              <a:srgbClr val="F4B7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CBA74-91C2-463C-860E-F4F25203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7650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B740"/>
                </a:solidFill>
              </a:defRPr>
            </a:pPr>
            <a:r>
              <a:rPr sz="2100" b="1">
                <a:solidFill>
                  <a:srgbClr val="F4B740"/>
                </a:solidFill>
              </a:rPr>
              <a:t>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4EB12-307C-409B-BB86-456A703F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76550"/>
            <a:ext cx="3524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帆角、帆形、攻角、升力、阻力、飘帆、失速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3523F-201B-4E46-8CB6-E2CEB989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247900"/>
            <a:ext cx="4057650" cy="3629025"/>
          </a:xfrm>
          <a:prstGeom xmlns:a="http://schemas.openxmlformats.org/drawingml/2006/main" prst="roundRect">
            <a:avLst>
              <a:gd name="adj" fmla="val 21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56D41-613D-48B9-834B-A1ED6C5E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533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45560-5BD5-45EE-BA65-CD2CDBAD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247650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D4BF"/>
                </a:solidFill>
              </a:defRPr>
            </a:pPr>
            <a:r>
              <a:rPr sz="2100" b="1">
                <a:solidFill>
                  <a:srgbClr val="2DD4BF"/>
                </a:solidFill>
              </a:rPr>
              <a:t>水下翼面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6AC0B-48E9-49CD-A309-4F64CE65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876550"/>
            <a:ext cx="3524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舵、稳向板、侧向力、转向力矩、阻力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427CC-BF65-4CCA-84A1-6ACB8014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67425"/>
            <a:ext cx="4057650" cy="3629025"/>
          </a:xfrm>
          <a:prstGeom xmlns:a="http://schemas.openxmlformats.org/drawingml/2006/main" prst="roundRect">
            <a:avLst>
              <a:gd name="adj" fmla="val 21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C0319-BE56-4900-8273-1A6C0D2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362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82EB8-7E80-4FB4-B774-8EF5AB9C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3055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6CF2"/>
                </a:solidFill>
              </a:defRPr>
            </a:pPr>
            <a:r>
              <a:rPr sz="2100" b="1">
                <a:solidFill>
                  <a:srgbClr val="7C6CF2"/>
                </a:solidFill>
              </a:rPr>
              <a:t>船体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346694-0C6F-4221-9B1B-6403C106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705600"/>
            <a:ext cx="3524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质量、惯性、航向、速度、侧滑、船体阻力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BF0537-3107-494A-A088-1800BFA5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067425"/>
            <a:ext cx="4057650" cy="3629025"/>
          </a:xfrm>
          <a:prstGeom xmlns:a="http://schemas.openxmlformats.org/drawingml/2006/main" prst="roundRect">
            <a:avLst>
              <a:gd name="adj" fmla="val 21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F96396-0318-40D3-938A-F4017AC8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362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84D11-9BB3-4B25-B6EA-A66ABD0E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3055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9735B"/>
                </a:solidFill>
              </a:defRPr>
            </a:pPr>
            <a:r>
              <a:rPr sz="2100" b="1">
                <a:solidFill>
                  <a:srgbClr val="F9735B"/>
                </a:solidFill>
              </a:rPr>
              <a:t>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18446D-A827-4076-8B66-407E5173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705600"/>
            <a:ext cx="352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重心、压舷、扶正力矩、翻船风险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7C94C-FE2D-4BB8-A5D8-0C604C1B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67425"/>
            <a:ext cx="4057650" cy="3629025"/>
          </a:xfrm>
          <a:prstGeom xmlns:a="http://schemas.openxmlformats.org/drawingml/2006/main" prst="roundRect">
            <a:avLst>
              <a:gd name="adj" fmla="val 21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27073-8FE0-4606-915D-2041D0EB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362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73B0A1-83D0-4CAC-85BC-54BDCE69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055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A5E9"/>
                </a:solidFill>
              </a:defRPr>
            </a:pPr>
            <a:r>
              <a:rPr sz="2100" b="1">
                <a:solidFill>
                  <a:srgbClr val="0EA5E9"/>
                </a:solidFill>
              </a:rPr>
              <a:t>显示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AF5D97-45E7-44C5-984A-964B36FA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705600"/>
            <a:ext cx="3524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HUD、力箭头、横倾仪、帆形图、侧滑轨迹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669ED0-FD0F-4CF5-A1B8-C39F2EBD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067425"/>
            <a:ext cx="4057650" cy="3629025"/>
          </a:xfrm>
          <a:prstGeom xmlns:a="http://schemas.openxmlformats.org/drawingml/2006/main" prst="roundRect">
            <a:avLst>
              <a:gd name="adj" fmla="val 21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492B72-2FE8-4BD0-9CB5-63AC8914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362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192154-33BC-4653-86B5-38AA5009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6305550"/>
            <a:ext cx="3257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教学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B51F5E-AB34-4AE3-A0CD-4258BCB8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705600"/>
            <a:ext cx="352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任务、评分、提示、回放、训练目标</a:t>
            </a:r>
          </a:p>
        </p:txBody>
      </p:sp>
    </p:spTree>
    <p:extLst>
      <p:ext uri="{BB962C8B-B14F-4D97-AF65-F5344CB8AC3E}">
        <p14:creationId xmlns:p14="http://schemas.microsoft.com/office/powerpoint/2010/main" val="1237199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44B91C-8C97-4B9A-9E36-0B385B64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668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ABSTRACTION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1DBC9-A8C9-42DB-9CD9-F72BA4C0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033"/>
                </a:solidFill>
              </a:defRPr>
            </a:pPr>
            <a:r>
              <a:rPr sz="4650" b="1">
                <a:solidFill>
                  <a:srgbClr val="102033"/>
                </a:solidFill>
              </a:rPr>
              <a:t>从因素到系统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9550B-397F-4959-87AB-DE8765E6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773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84"/>
                </a:solidFill>
              </a:defRPr>
            </a:pPr>
            <a:r>
              <a:rPr sz="2100" b="0">
                <a:solidFill>
                  <a:srgbClr val="617084"/>
                </a:solidFill>
              </a:rPr>
              <a:t>工程不是把世界全搬进电脑，而是选择足够解释核心现象的模型。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7A8A1-6B52-4E60-B503-C7E58C73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50419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CD017-53A3-498C-ABE0-1B460C8D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07EB9-E807-48F9-9083-B64CB735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1460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环境系统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57FE7-1911-4CCB-A1E1-C8D7F1F8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真风、水流、阵风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A857A-75E9-4068-84CC-9489B12A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38500"/>
            <a:ext cx="43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17084"/>
                </a:solidFill>
              </a:defRPr>
            </a:pPr>
            <a:r>
              <a:rPr sz="34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79B10-4A7D-40D4-B24E-177085CF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050" y="2286000"/>
            <a:ext cx="50419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8AE90-8828-4E07-9CE6-3FCF2325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solidFill>
              <a:srgbClr val="F4B7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D883B-0BF3-442D-B6D0-32A0E702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1460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B740"/>
                </a:solidFill>
              </a:defRPr>
            </a:pPr>
            <a:r>
              <a:rPr sz="2100" b="1">
                <a:solidFill>
                  <a:srgbClr val="F4B740"/>
                </a:solidFill>
              </a:rPr>
              <a:t>视风 / 帆系统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68EAE-C222-4F1E-8B14-6697AB34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攻角、帆状态、推力、横倾力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BAA96-E5CD-4C75-87DC-FCF29B19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238500"/>
            <a:ext cx="43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17084"/>
                </a:solidFill>
              </a:defRPr>
            </a:pPr>
            <a:r>
              <a:rPr sz="34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82584-3C0D-4841-A0D7-C6930068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2286000"/>
            <a:ext cx="50419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73433-591B-402A-93BF-50007C3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B49D3-9E91-4E93-897F-525D8F7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51460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490"/>
                </a:solidFill>
              </a:defRPr>
            </a:pPr>
            <a:r>
              <a:rPr sz="2100" b="1">
                <a:solidFill>
                  <a:srgbClr val="0E7490"/>
                </a:solidFill>
              </a:rPr>
              <a:t>船体状态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3151F-BECC-43B5-AEE2-59C01EC2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9146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速度、航向、侧滑、横倾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F09AE-A402-4956-B6CF-CCD7741B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50419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FFA6C-3014-422D-83DD-7DE4478D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86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954484-2CAD-40CA-96D1-9B22F742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D4BF"/>
                </a:solidFill>
              </a:defRPr>
            </a:pPr>
            <a:r>
              <a:rPr sz="2100" b="1">
                <a:solidFill>
                  <a:srgbClr val="2DD4BF"/>
                </a:solidFill>
              </a:rPr>
              <a:t>水下翼面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72A5F-4A6C-4B2F-88CA-29E8F996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舵、稳向板、阻力、力矩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B3BC8-4DC9-41C8-A90D-EA286D53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53100"/>
            <a:ext cx="43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17084"/>
                </a:solidFill>
              </a:defRPr>
            </a:pPr>
            <a:r>
              <a:rPr sz="34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152FA-95C9-43FD-924D-F99A2C83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050" y="4800600"/>
            <a:ext cx="50419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06645-5510-4532-B8D0-112E0080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86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E27508-B9EF-48C0-8829-AF9EA025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2920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9735B"/>
                </a:solidFill>
              </a:defRPr>
            </a:pPr>
            <a:r>
              <a:rPr sz="2100" b="1">
                <a:solidFill>
                  <a:srgbClr val="F9735B"/>
                </a:solidFill>
              </a:rPr>
              <a:t>船员系统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F4281-6801-46BF-8AFF-58FD7B19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292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重心、压舷、扶正力矩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8EFC7-E7EE-4FF2-8CEC-3C8049FC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753100"/>
            <a:ext cx="43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17084"/>
                </a:solidFill>
              </a:defRPr>
            </a:pPr>
            <a:r>
              <a:rPr sz="34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2B5ADC-9FAE-41DC-826A-1D24DA01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4800600"/>
            <a:ext cx="50419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49253C-75DA-41E8-92F5-FA2957B0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086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A5C590-36F6-4719-B001-A52634CF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02920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6CF2"/>
                </a:solidFill>
              </a:defRPr>
            </a:pPr>
            <a:r>
              <a:rPr sz="2100" b="1">
                <a:solidFill>
                  <a:srgbClr val="7C6CF2"/>
                </a:solidFill>
              </a:rPr>
              <a:t>刚体积分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7E13A6-CE58-4135-B9BD-9D5326FB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4292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把力和力矩变成下一帧状态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875D77-CCF2-49BE-AE10-CF3DC9C1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96150"/>
            <a:ext cx="50419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3C39FC-D2D4-406B-9D3D-6BBC3A79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81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F7E53A-A442-4102-9E7D-9614FECE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52475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A5E9"/>
                </a:solidFill>
              </a:defRPr>
            </a:pPr>
            <a:r>
              <a:rPr sz="2100" b="1">
                <a:solidFill>
                  <a:srgbClr val="0EA5E9"/>
                </a:solidFill>
              </a:rPr>
              <a:t>Telemetry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EAE268-E263-47F6-AD80-CA0BABAF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2480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每一帧输出可解释数据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6E7830-FB76-4F87-99F2-5F2B4FFD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8248650"/>
            <a:ext cx="43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17084"/>
                </a:solidFill>
              </a:defRPr>
            </a:pPr>
            <a:r>
              <a:rPr sz="34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D5A257-22D2-4159-B32B-165EE1B0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050" y="7296150"/>
            <a:ext cx="50419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2F25E1-3281-471D-B0B6-D5176219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7581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41CC7C-D5E6-4043-89CF-35D705F2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752475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诊断 UI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85F578-FA8D-4610-8898-B87F83FA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792480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HUD、横倾、帆形、稳向板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37969E-C495-4459-A765-3312B07D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8248650"/>
            <a:ext cx="43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17084"/>
                </a:solidFill>
              </a:defRPr>
            </a:pPr>
            <a:r>
              <a:rPr sz="34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0FC549-3A92-4B93-95B5-8E7113E6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7296150"/>
            <a:ext cx="50419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CF25B6-8DC5-43EE-86F3-C10802C0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7581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2F43"/>
          </a:solidFill>
          <a:ln xmlns:a="http://schemas.openxmlformats.org/drawingml/2006/main" w="0">
            <a:solidFill>
              <a:srgbClr val="0F2F4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5D631C-9BBF-42DD-83B2-06FB5EF0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752475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2F43"/>
                </a:solidFill>
              </a:defRPr>
            </a:pPr>
            <a:r>
              <a:rPr sz="2100" b="1">
                <a:solidFill>
                  <a:srgbClr val="0F2F43"/>
                </a:solidFill>
              </a:rPr>
              <a:t>教学任务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2D4868-6DCF-4132-81E1-995698D3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792480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评分、提示、下节课验收</a:t>
            </a:r>
          </a:p>
        </p:txBody>
      </p:sp>
    </p:spTree>
    <p:extLst>
      <p:ext uri="{BB962C8B-B14F-4D97-AF65-F5344CB8AC3E}">
        <p14:creationId xmlns:p14="http://schemas.microsoft.com/office/powerpoint/2010/main" val="18066629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E3C09-7A75-49EC-BC3D-6DA8CD0C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672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TEAM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CCEB9-DFF5-4EC4-A620-A9FE5EA4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9650"/>
            <a:ext cx="16725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033"/>
                </a:solidFill>
              </a:defRPr>
            </a:pPr>
            <a:r>
              <a:rPr sz="4650" b="1">
                <a:solidFill>
                  <a:srgbClr val="102033"/>
                </a:solidFill>
              </a:rPr>
              <a:t>临时分组：不是分工写代码，而是分工判断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DA6D6-D6F1-469C-8989-D27DAE93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586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84"/>
                </a:solidFill>
              </a:defRPr>
            </a:pPr>
            <a:r>
              <a:rPr sz="2100" b="0">
                <a:solidFill>
                  <a:srgbClr val="617084"/>
                </a:solidFill>
              </a:rPr>
              <a:t>每组负责把一个真实系统变成输入、处理、输出。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07F2D-F1BA-4C08-A6FF-13F881B9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2486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B3D4C-C9A4-4AD3-815D-2B8E7467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solidFill>
              <a:srgbClr val="F4B7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F7FC0-E3C5-40CE-B34C-56CE0B3A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B740"/>
                </a:solidFill>
              </a:defRPr>
            </a:pPr>
            <a:r>
              <a:rPr sz="2100" b="1">
                <a:solidFill>
                  <a:srgbClr val="F4B740"/>
                </a:solidFill>
              </a:rPr>
              <a:t>A 组：风和帆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BB6B2-703C-4E76-A518-16DA2853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771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输入：真风、船速、帆角</a:t>
            </a:r>
          </a:p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输出：视风、攻角、帆状态、推力、横倾力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07CBA-5103-4A6B-98F6-377A54BA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82486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CB2E8-D3CD-43EB-9083-9F768C48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E1E08-EB1C-4511-BE2C-130CE288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5270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D4BF"/>
                </a:solidFill>
              </a:defRPr>
            </a:pPr>
            <a:r>
              <a:rPr sz="2100" b="1">
                <a:solidFill>
                  <a:srgbClr val="2DD4BF"/>
                </a:solidFill>
              </a:rPr>
              <a:t>B 组：船体 / 舵 / 稳向板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B1C1D-1A28-4ECE-9A8B-797947E8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771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输入：船速、舵角、板位、侧滑</a:t>
            </a:r>
          </a:p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输出：转向、阻力、侧向力、leeway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D8E40-D09B-4010-9DB8-775542D0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82486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DE500-6538-46D3-8912-1F80D0E5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BD16F-7533-4DED-9151-51E1B683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2460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9735B"/>
                </a:solidFill>
              </a:defRPr>
            </a:pPr>
            <a:r>
              <a:rPr sz="2100" b="1">
                <a:solidFill>
                  <a:srgbClr val="F9735B"/>
                </a:solidFill>
              </a:rPr>
              <a:t>C 组：横倾 / 人重心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9E4B5-8D3E-44CB-8C9E-FCDCF086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771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输入：侧向力、风速、人位置</a:t>
            </a:r>
          </a:p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输出：横倾角、扶正力矩、翻船风险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246AE-F151-40A3-B19C-DB1681D7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096000"/>
            <a:ext cx="82486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F9E85-ABCC-46FD-B0F7-9027EDD4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AECBF-E27D-42F8-91AA-3863DEB5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324600"/>
            <a:ext cx="744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490"/>
                </a:solidFill>
              </a:defRPr>
            </a:pPr>
            <a:r>
              <a:rPr sz="2100" b="1">
                <a:solidFill>
                  <a:srgbClr val="0E7490"/>
                </a:solidFill>
              </a:rPr>
              <a:t>D 组：HUD / 教学体验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5550C-C745-4FFB-B687-2AF420EA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71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输入：telemetry 和任务目标</a:t>
            </a:r>
          </a:p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输出：学生能看懂的仪表、提示、评分</a:t>
            </a:r>
          </a:p>
        </p:txBody>
      </p:sp>
    </p:spTree>
    <p:extLst>
      <p:ext uri="{BB962C8B-B14F-4D97-AF65-F5344CB8AC3E}">
        <p14:creationId xmlns:p14="http://schemas.microsoft.com/office/powerpoint/2010/main" val="10425201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B9577-EAF0-4175-90AE-0CB21D25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0">
            <a:solidFill>
              <a:srgbClr val="0B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2F725-5208-4903-9332-2BC6DA59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781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B740"/>
                </a:solidFill>
              </a:defRPr>
            </a:pPr>
            <a:r>
              <a:rPr sz="1500" b="1">
                <a:solidFill>
                  <a:srgbClr val="F4B740"/>
                </a:solidFill>
              </a:rPr>
              <a:t>SECTION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8978F-6225-4E2B-917F-93D2EB16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7810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现在再看 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52B25-51B9-4450-AB05-FC0E94BC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7DBE5"/>
                </a:solidFill>
              </a:defRPr>
            </a:pPr>
            <a:r>
              <a:rPr sz="2250" b="0">
                <a:solidFill>
                  <a:srgbClr val="C7DBE5"/>
                </a:solidFill>
              </a:rPr>
              <a:t>V1 不是答案，而是我们用来审查 AI 产物的原型。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34852-D2B8-4BC1-9A2D-875704AF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3622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solidFill>
              <a:srgbClr val="F4B7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45D64-EDF6-4FF3-9C03-19A10F98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534150"/>
            <a:ext cx="8001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0B1827"/>
                </a:solidFill>
              </a:defRPr>
            </a:pPr>
            <a:r>
              <a:rPr sz="11250" b="1">
                <a:solidFill>
                  <a:srgbClr val="0B1827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05479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AC6355-CF61-4F47-8D98-94ACD2F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763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V1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B9081-7EAB-47CF-BAD2-64DE8370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7639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033"/>
                </a:solidFill>
              </a:defRPr>
            </a:pPr>
            <a:r>
              <a:rPr sz="4650" b="1">
                <a:solidFill>
                  <a:srgbClr val="102033"/>
                </a:solidFill>
              </a:rPr>
              <a:t>试玩不是为了夸它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ECEB-2E76-400D-A3AC-BA6B9822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640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84"/>
                </a:solidFill>
              </a:defRPr>
            </a:pPr>
            <a:r>
              <a:rPr sz="2100" b="0">
                <a:solidFill>
                  <a:srgbClr val="617084"/>
                </a:solidFill>
              </a:rPr>
              <a:t>而是用真实系统检查：哪些对，哪些假，哪些看不懂。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34DA9-E661-4271-9151-92F7E43B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7639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9735B"/>
                </a:solidFill>
              </a:defRPr>
            </a:pPr>
            <a:r>
              <a:rPr sz="2550" b="1">
                <a:solidFill>
                  <a:srgbClr val="F9735B"/>
                </a:solidFill>
              </a:rPr>
              <a:t>V1 是 AI 快速生成能力的证明，也是不足的证据。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9907B-F7F8-48A4-9642-B2DF6A6A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795" y="341947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DF770-18DE-494E-AC2F-1B179F5B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00450"/>
            <a:ext cx="19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40C39-1B77-45F4-842D-E5755D31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29000"/>
            <a:ext cx="7581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</a:defRPr>
            </a:pPr>
            <a:r>
              <a:rPr sz="2325" b="1">
                <a:solidFill>
                  <a:srgbClr val="102033"/>
                </a:solidFill>
              </a:rPr>
              <a:t>哪些地方已经有价值，可以保留？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12118-7AA2-4CE0-95B2-E119AF0A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795" y="433387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740"/>
          </a:solidFill>
          <a:ln xmlns:a="http://schemas.openxmlformats.org/drawingml/2006/main" w="0">
            <a:solidFill>
              <a:srgbClr val="F4B7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F96AF-3235-4353-80A0-5CE72761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14850"/>
            <a:ext cx="19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3C6C1-B691-46BB-8F1F-B1F6D918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43400"/>
            <a:ext cx="7581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</a:defRPr>
            </a:pPr>
            <a:r>
              <a:rPr sz="2325" b="1">
                <a:solidFill>
                  <a:srgbClr val="102033"/>
                </a:solidFill>
              </a:rPr>
              <a:t>哪些物理现象不真实，需要修改？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DC547-2D85-4753-95EB-B7D442E9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795" y="524827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2AD11-7A20-44BF-931B-D3228638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29250"/>
            <a:ext cx="19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F6F56-A7BF-44F4-ADF3-EEC9BFB3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57800"/>
            <a:ext cx="7581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</a:defRPr>
            </a:pPr>
            <a:r>
              <a:rPr sz="2325" b="1">
                <a:solidFill>
                  <a:srgbClr val="102033"/>
                </a:solidFill>
              </a:rPr>
              <a:t>哪些核心信息没有显示，需要重做？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0BE17-E03B-4D4F-AA51-A2F4AF71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795" y="616267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E6868-F690-445F-A92F-6132F51A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343650"/>
            <a:ext cx="19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82696-560F-4975-96BC-D538E137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72200"/>
            <a:ext cx="7581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033"/>
                </a:solidFill>
              </a:defRPr>
            </a:pPr>
            <a:r>
              <a:rPr sz="2325" b="1">
                <a:solidFill>
                  <a:srgbClr val="102033"/>
                </a:solidFill>
              </a:rPr>
              <a:t>哪些想法能迁移到 V2？</a:t>
            </a:r>
          </a:p>
        </p:txBody>
      </p:sp>
    </p:spTree>
    <p:extLst>
      <p:ext uri="{BB962C8B-B14F-4D97-AF65-F5344CB8AC3E}">
        <p14:creationId xmlns:p14="http://schemas.microsoft.com/office/powerpoint/2010/main" val="9132885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E42D0A-42F9-4EA6-BAA0-A9E3960F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668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RUBRIC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8EF15-4999-459F-A067-05237134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033"/>
                </a:solidFill>
              </a:defRPr>
            </a:pPr>
            <a:r>
              <a:rPr sz="4650" b="1">
                <a:solidFill>
                  <a:srgbClr val="102033"/>
                </a:solidFill>
              </a:rPr>
              <a:t>把意见变成可执行判断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62A02-2C60-4D80-85B1-AE3C1C1C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84"/>
                </a:solidFill>
              </a:defRPr>
            </a:pPr>
            <a:r>
              <a:rPr sz="2100" b="0">
                <a:solidFill>
                  <a:srgbClr val="617084"/>
                </a:solidFill>
              </a:rPr>
              <a:t>不要只说“更真实”。要说清楚哪里不对、应该怎样、如何验收。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452B3-0E0D-485E-9D4C-17BACA32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410200" cy="609600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AB826-7D73-4022-9AD7-1CBDD184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B46B4-CCBB-4CE0-AB26-00B960FD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03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490"/>
                </a:solidFill>
              </a:defRPr>
            </a:pPr>
            <a:r>
              <a:rPr sz="2100" b="1">
                <a:solidFill>
                  <a:srgbClr val="0E7490"/>
                </a:solidFill>
              </a:rPr>
              <a:t>保留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F688D-F4DE-45F9-A36B-878ADD51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876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已经帮助理解或操作的部分：主视图、风/水粒子、基础 HUD、力箭头、地图。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DC59B-E8C3-494B-805C-DE4C0B66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410200" cy="609600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702C4-8D79-4DB3-85A6-0F4DF02B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solidFill>
              <a:srgbClr val="F4B7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6E309-20CF-4404-9EBB-25BBF8E8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B740"/>
                </a:solidFill>
              </a:defRPr>
            </a:pPr>
            <a:r>
              <a:rPr sz="2100" b="1">
                <a:solidFill>
                  <a:srgbClr val="F4B740"/>
                </a:solidFill>
              </a:rPr>
              <a:t>修改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BB574-7422-4842-BDB2-715147A2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4876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有价值但不够专业的部分：指标命名、风向表达、操控反馈、力箭头含义。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F8E56-8C13-4513-8AA1-7016C61A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571750"/>
            <a:ext cx="5410200" cy="609600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3FF64-660A-405D-A776-98315FF0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857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3AA0D-817C-4B5E-AA28-741E4975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800350"/>
            <a:ext cx="461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9735B"/>
                </a:solidFill>
              </a:defRPr>
            </a:pPr>
            <a:r>
              <a:rPr sz="2100" b="1">
                <a:solidFill>
                  <a:srgbClr val="F9735B"/>
                </a:solidFill>
              </a:rPr>
              <a:t>重做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65BED-C0A1-443F-B1D8-76FA510D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200400"/>
            <a:ext cx="4876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会限制 V2 的部分：物理核心、状态结构、telemetry、专业诊断面板。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938DE-817D-435B-828D-F79A26C6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0"/>
            <a:ext cx="1668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solidFill>
              <a:srgbClr val="EAF7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B283F-6355-402A-BF39-3CBA44EB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63050"/>
            <a:ext cx="1615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2F43"/>
                </a:solidFill>
              </a:defRPr>
            </a:pPr>
            <a:r>
              <a:rPr sz="2250" b="1">
                <a:solidFill>
                  <a:srgbClr val="0F2F43"/>
                </a:solidFill>
              </a:rPr>
              <a:t>表达模板：当前问题 → 真实情况 → V2 应该怎么模拟/显示 → 怎么判断它改好了</a:t>
            </a:r>
          </a:p>
        </p:txBody>
      </p:sp>
    </p:spTree>
    <p:extLst>
      <p:ext uri="{BB962C8B-B14F-4D97-AF65-F5344CB8AC3E}">
        <p14:creationId xmlns:p14="http://schemas.microsoft.com/office/powerpoint/2010/main" val="2795622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B66F83-0C77-46F0-B6CA-3E98377C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8058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PRIORITY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7A597-D563-4911-A948-11FFF2C2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8058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033"/>
                </a:solidFill>
              </a:defRPr>
            </a:pPr>
            <a:r>
              <a:rPr sz="4650" b="1">
                <a:solidFill>
                  <a:srgbClr val="102033"/>
                </a:solidFill>
              </a:rPr>
              <a:t>定义 V2 第一轮目标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3C68C-8335-4300-AE4C-1D9B8D8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906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84"/>
                </a:solidFill>
              </a:defRPr>
            </a:pPr>
            <a:r>
              <a:rPr sz="2100" b="0">
                <a:solidFill>
                  <a:srgbClr val="617084"/>
                </a:solidFill>
              </a:rPr>
              <a:t>投票不是选最酷的功能，而是选最能提升真实感、解释力和学习价值的功能。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42459-1B36-4DDF-86B4-F840FC93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805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E7490"/>
                </a:solidFill>
              </a:defRPr>
            </a:pPr>
            <a:r>
              <a:rPr sz="2400" b="1">
                <a:solidFill>
                  <a:srgbClr val="0E7490"/>
                </a:solidFill>
              </a:rPr>
              <a:t>建议第一轮只选 2-3 个方向，避免项目一开始失控。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55107-0225-44DB-8E9A-19D40755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666750"/>
            <a:ext cx="8048625" cy="2660650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CC3AC-1DCA-439A-81FA-B805DA6A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solidFill>
              <a:srgbClr val="F4B7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532BF-289E-490D-9C67-25F27554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895350"/>
            <a:ext cx="725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B740"/>
                </a:solidFill>
              </a:defRPr>
            </a:pPr>
            <a:r>
              <a:rPr sz="2100" b="1">
                <a:solidFill>
                  <a:srgbClr val="F4B740"/>
                </a:solidFill>
              </a:rPr>
              <a:t>候选 1：视风 + 帆攻角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018FC-A33A-40F4-B7D5-E84D01FA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95400"/>
            <a:ext cx="752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解释为什么船快了，风像从更前面来；为什么帆太松/太紧都慢。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566D2-1D39-4E56-A1A0-B7480865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517900"/>
            <a:ext cx="8048625" cy="2660650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19B09-36CB-426F-AC0A-39BF978F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0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4EB43-ED6A-44BA-9130-2B6A3039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52850"/>
            <a:ext cx="725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9735B"/>
                </a:solidFill>
              </a:defRPr>
            </a:pPr>
            <a:r>
              <a:rPr sz="2100" b="1">
                <a:solidFill>
                  <a:srgbClr val="F9735B"/>
                </a:solidFill>
              </a:rPr>
              <a:t>候选 2：横倾和平衡面板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E5C16-C1D3-4EE6-AD8A-DEC39A8C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52900"/>
            <a:ext cx="752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解释风力、人重心、扶正力矩和翻船风险。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22240-B86A-409B-86A9-3F1F1A9D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6369050"/>
            <a:ext cx="8048625" cy="2660650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1BF44-B600-4A3B-BF41-217FD0C9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48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B6549-DEB7-4382-A943-88F2BCDB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91300"/>
            <a:ext cx="725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D4BF"/>
                </a:solidFill>
              </a:defRPr>
            </a:pPr>
            <a:r>
              <a:rPr sz="2100" b="1">
                <a:solidFill>
                  <a:srgbClr val="2DD4BF"/>
                </a:solidFill>
              </a:rPr>
              <a:t>候选 3：稳向板 / 舵 / 侧滑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5C235-CA69-4613-A55A-6309E153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991350"/>
            <a:ext cx="752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解释为什么板能抗侧滑，大舵角为什么拖慢船。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E9777-AA62-43A1-B21A-330629D3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9220200"/>
            <a:ext cx="1386364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DE3FB-9C29-49BA-9FB0-15757A45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31545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7490"/>
                </a:solidFill>
              </a:defRPr>
            </a:pPr>
            <a:r>
              <a:rPr sz="1650" b="1">
                <a:solidFill>
                  <a:srgbClr val="0E7490"/>
                </a:solidFill>
              </a:rPr>
              <a:t>真实感 1-5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9CF89-6E19-48B9-BE1E-95AD37C4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939" y="9220200"/>
            <a:ext cx="1595914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F4B7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CBDAF-59C6-4EF0-93A8-4717739C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9315450"/>
            <a:ext cx="121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B740"/>
                </a:solidFill>
              </a:defRPr>
            </a:pPr>
            <a:r>
              <a:rPr sz="1650" b="1">
                <a:solidFill>
                  <a:srgbClr val="F4B740"/>
                </a:solidFill>
              </a:rPr>
              <a:t>教学价值 1-5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4A2A03-5CA2-43A3-BB37-B8B5B3C7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0153" y="9220200"/>
            <a:ext cx="1595914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F"/>
          </a:solidFill>
          <a:ln xmlns:a="http://schemas.openxmlformats.org/drawingml/2006/main" w="9525">
            <a:solidFill>
              <a:srgbClr val="F973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3BCAA-517D-4A44-9AA7-87673A91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315450"/>
            <a:ext cx="121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9735B"/>
                </a:solidFill>
              </a:defRPr>
            </a:pPr>
            <a:r>
              <a:rPr sz="1650" b="1">
                <a:solidFill>
                  <a:srgbClr val="F9735B"/>
                </a:solidFill>
              </a:rPr>
              <a:t>实现风险 1-5</a:t>
            </a:r>
          </a:p>
        </p:txBody>
      </p:sp>
    </p:spTree>
    <p:extLst>
      <p:ext uri="{BB962C8B-B14F-4D97-AF65-F5344CB8AC3E}">
        <p14:creationId xmlns:p14="http://schemas.microsoft.com/office/powerpoint/2010/main" val="21401082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399C9A-06B7-4CEA-ABB8-F3439D4B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0">
            <a:solidFill>
              <a:srgbClr val="0B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EF22E-B3AD-484A-A568-4A4745BE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781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SECTION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89AA1-1042-41F0-B0D2-59CB0BFA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7810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从会议到代码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D549E-7833-4C39-BCAB-A0AEA21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7DBE5"/>
                </a:solidFill>
              </a:defRPr>
            </a:pPr>
            <a:r>
              <a:rPr sz="2250" b="0">
                <a:solidFill>
                  <a:srgbClr val="C7DBE5"/>
                </a:solidFill>
              </a:rPr>
              <a:t>豆包记录讨论，老师提炼需求，Codex 统一实现，下节课集体验收。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1D7F9-4F53-4E6A-B1D3-9BA20DB1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3622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918CD-A8CB-445D-89F7-EAF26F33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534150"/>
            <a:ext cx="8001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0B1827"/>
                </a:solidFill>
              </a:defRPr>
            </a:pPr>
            <a:r>
              <a:rPr sz="11250" b="1">
                <a:solidFill>
                  <a:srgbClr val="0B1827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84967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4C041F-7FA5-4B30-A4F4-B672FCDD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668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AI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706BA-EDD4-4BB9-AF0F-6DC854C9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16687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033"/>
                </a:solidFill>
              </a:defRPr>
            </a:pPr>
            <a:r>
              <a:rPr sz="4650" b="1">
                <a:solidFill>
                  <a:srgbClr val="102033"/>
                </a:solidFill>
              </a:rPr>
              <a:t>豆包不是产品负责人，Codex 不是领域专家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4473E-6013-4465-9F17-5C0693DB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7791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84"/>
                </a:solidFill>
              </a:defRPr>
            </a:pPr>
            <a:r>
              <a:rPr sz="2100" b="0">
                <a:solidFill>
                  <a:srgbClr val="617084"/>
                </a:solidFill>
              </a:rPr>
              <a:t>AI 分别负责记录和实现；判断权、优先级和验收权在课堂共同体。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D57CA-32FA-47C0-9B55-DC0BE64D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804160" cy="70866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473B1-5489-4187-9773-95C6A43A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42A96-04BE-437F-BB05-CA0CAF16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03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490"/>
                </a:solidFill>
              </a:defRPr>
            </a:pPr>
            <a:r>
              <a:rPr sz="2100" b="1">
                <a:solidFill>
                  <a:srgbClr val="0E7490"/>
                </a:solidFill>
              </a:rPr>
              <a:t>课堂讨论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BABFE-8F32-4EB9-B6C7-AF2C5577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2266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观察、建模、争论、投票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2310D-D5DB-4904-8444-0DC909DF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0550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17084"/>
                </a:solidFill>
              </a:defRPr>
            </a:pPr>
            <a:r>
              <a:rPr sz="31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922F1-D655-4462-8585-65C0B1C9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2571750"/>
            <a:ext cx="2804160" cy="70866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E9F01-E49A-400B-9EA0-036983EF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solidFill>
              <a:srgbClr val="F4B7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95619-50CA-45F0-AFFF-841F3E8D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03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B740"/>
                </a:solidFill>
              </a:defRPr>
            </a:pPr>
            <a:r>
              <a:rPr sz="2100" b="1">
                <a:solidFill>
                  <a:srgbClr val="F4B740"/>
                </a:solidFill>
              </a:rPr>
              <a:t>豆包记录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4EA43-5F3B-4053-8904-D460492E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2266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转写、会议纪要、观点归类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4B307-EFA7-43BC-A1A9-903AAFC5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90550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17084"/>
                </a:solidFill>
              </a:defRPr>
            </a:pPr>
            <a:r>
              <a:rPr sz="31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0F184-CE07-4C94-ABA0-DBA46F4E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920" y="2571750"/>
            <a:ext cx="2804160" cy="70866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7DBF9-3829-4CC5-88AB-129BC544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BFF94-5CAA-4AD4-87F1-FC09CA1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9735B"/>
                </a:solidFill>
              </a:defRPr>
            </a:pPr>
            <a:r>
              <a:rPr sz="2100" b="1">
                <a:solidFill>
                  <a:srgbClr val="F9735B"/>
                </a:solidFill>
              </a:rPr>
              <a:t>老师筛选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C26BD-C658-4230-AD43-D73CE592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2266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删空话、修概念、定优先级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156E1-8C49-49CA-8536-FBDD1A0D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90550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17084"/>
                </a:solidFill>
              </a:defRPr>
            </a:pPr>
            <a:r>
              <a:rPr sz="31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8847B-E53E-4124-AC5F-16AABE7A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2830" y="2571750"/>
            <a:ext cx="2804160" cy="70866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FC2E1-AE7F-47B0-8961-42C9E5DA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FF7A7-82DC-45F8-AAD0-4EC22329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8003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6CF2"/>
                </a:solidFill>
              </a:defRPr>
            </a:pPr>
            <a:r>
              <a:rPr sz="2100" b="1">
                <a:solidFill>
                  <a:srgbClr val="7C6CF2"/>
                </a:solidFill>
              </a:rPr>
              <a:t>Codex 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AB02FB-6146-4239-B634-E6EE9064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200400"/>
            <a:ext cx="2266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设计结构、写代码、写测试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E9C04-B814-452A-8DAD-5011FBD8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90550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17084"/>
                </a:solidFill>
              </a:defRPr>
            </a:pPr>
            <a:r>
              <a:rPr sz="31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5424F-BBEC-4A1F-9CB5-C99CB16A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3740" y="2571750"/>
            <a:ext cx="2804160" cy="70866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1E182-B6F9-4B53-B3E8-C4AA3D68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2857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43EBF5-FCFB-490E-8CB0-7A356390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28003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D4BF"/>
                </a:solidFill>
              </a:defRPr>
            </a:pPr>
            <a:r>
              <a:rPr sz="2100" b="1">
                <a:solidFill>
                  <a:srgbClr val="2DD4BF"/>
                </a:solidFill>
              </a:rPr>
              <a:t>下节验收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F33ED-7A30-44D4-ABD9-32888794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200400"/>
            <a:ext cx="2266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真实吗？清楚吗？值得继续吗？</a:t>
            </a:r>
          </a:p>
        </p:txBody>
      </p:sp>
    </p:spTree>
    <p:extLst>
      <p:ext uri="{BB962C8B-B14F-4D97-AF65-F5344CB8AC3E}">
        <p14:creationId xmlns:p14="http://schemas.microsoft.com/office/powerpoint/2010/main" val="16111735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335B86-E46C-4FF3-99B2-EDBA2CF5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695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7490"/>
                </a:solidFill>
              </a:defRPr>
            </a:pPr>
            <a:r>
              <a:rPr sz="1500" b="1">
                <a:solidFill>
                  <a:srgbClr val="0E7490"/>
                </a:solidFill>
              </a:rPr>
              <a:t>PROMPT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91F1C-B0FD-4115-84EE-0F6E7865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6953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033"/>
                </a:solidFill>
              </a:defRPr>
            </a:pPr>
            <a:r>
              <a:rPr sz="4650" b="1">
                <a:solidFill>
                  <a:srgbClr val="102033"/>
                </a:solidFill>
              </a:rPr>
              <a:t>高质量需求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CC3DC-47B4-4822-A168-0DE7985B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6515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84"/>
                </a:solidFill>
              </a:defRPr>
            </a:pPr>
            <a:r>
              <a:rPr sz="2100" b="0">
                <a:solidFill>
                  <a:srgbClr val="617084"/>
                </a:solidFill>
              </a:rPr>
              <a:t>把大家的讨论整理成 AI 能执行、也能被人验收的任务。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1E428-EFDA-4B63-AA2B-387CD6A0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6953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9735B"/>
                </a:solidFill>
              </a:defRPr>
            </a:pPr>
            <a:r>
              <a:rPr sz="2325" b="1">
                <a:solidFill>
                  <a:srgbClr val="F9735B"/>
                </a:solidFill>
              </a:rPr>
              <a:t>好 prompt 不是“帮我优化”，而是有背景、目标、边界和验收标准。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52614-50DF-4706-8A0A-992DD884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034" y="647700"/>
            <a:ext cx="9218866" cy="899160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0B1827"/>
          </a:solidFill>
          <a:ln xmlns:a="http://schemas.openxmlformats.org/drawingml/2006/main" w="0">
            <a:solidFill>
              <a:srgbClr val="0B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DB961-9A2F-4D0F-A272-A6EDB7CE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933450"/>
            <a:ext cx="857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6F3F8"/>
                </a:solidFill>
              </a:defRPr>
            </a:pPr>
            <a:r>
              <a:rPr sz="1725" b="0">
                <a:solidFill>
                  <a:srgbClr val="E6F3F8"/>
                </a:solidFill>
              </a:rPr>
              <a:t>背景：我们正在构建 Sailer V2，一个 2.5D 帆船教学模拟器。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DBB43-D282-40FD-B0A3-D233A24B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95400"/>
            <a:ext cx="857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6F3F8"/>
                </a:solidFill>
              </a:defRPr>
            </a:pPr>
            <a:r>
              <a:rPr sz="1725" b="0">
                <a:solidFill>
                  <a:srgbClr val="E6F3F8"/>
                </a:solidFill>
              </a:rPr>
              <a:t>本轮目标：实现 / 设计 XXX。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56597-2A3E-41C5-A119-1C9046F7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38300"/>
            <a:ext cx="857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6F3F8"/>
                </a:solidFill>
              </a:defRPr>
            </a:pPr>
            <a:r>
              <a:rPr sz="1725" b="0">
                <a:solidFill>
                  <a:srgbClr val="E6F3F8"/>
                </a:solidFill>
              </a:rPr>
              <a:t>当前问题：V1 中 XXX 不真实 / 不清楚。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D5425-24E9-48DA-B557-59E72277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857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6F3F8"/>
                </a:solidFill>
              </a:defRPr>
            </a:pPr>
            <a:r>
              <a:rPr sz="1725" b="0">
                <a:solidFill>
                  <a:srgbClr val="E6F3F8"/>
                </a:solidFill>
              </a:rPr>
              <a:t>需求：1. ...  2. ...  3. 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FEE03-9E9F-4613-A46B-D09FAF92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857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6F3F8"/>
                </a:solidFill>
              </a:defRPr>
            </a:pPr>
            <a:r>
              <a:rPr sz="1725" b="0">
                <a:solidFill>
                  <a:srgbClr val="E6F3F8"/>
                </a:solidFill>
              </a:rPr>
              <a:t>验收标准：风变大时...；人移动时...；测试应覆盖...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4A3DA-2349-42A6-B9BD-98988586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05100"/>
            <a:ext cx="857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限制：不做完整 3D；不使用 Unity；物理核心与渲染分离；优先输出 telemetry。</a:t>
            </a:r>
          </a:p>
        </p:txBody>
      </p:sp>
    </p:spTree>
    <p:extLst>
      <p:ext uri="{BB962C8B-B14F-4D97-AF65-F5344CB8AC3E}">
        <p14:creationId xmlns:p14="http://schemas.microsoft.com/office/powerpoint/2010/main" val="15080948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2F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DEC6DE-6BFD-4EF1-9DB8-D2DBA72A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F43"/>
          </a:solidFill>
          <a:ln xmlns:a="http://schemas.openxmlformats.org/drawingml/2006/main" w="0">
            <a:solidFill>
              <a:srgbClr val="0F2F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7DF9D-0708-42E1-8572-6CE982CF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615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CLOSING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871CC-F3DF-4FCA-89F4-93F202A8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161544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以后不会被 AI 替代的人，</a:t>
            </a:r>
          </a:p>
          <a:p xmlns:a="http://schemas.openxmlformats.org/drawingml/2006/main">
            <a:pPr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不一定是写代码最快的人。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36A81-BCD1-4057-927F-7B7EA19D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5B"/>
          </a:solidFill>
          <a:ln xmlns:a="http://schemas.openxmlformats.org/drawingml/2006/main" w="0">
            <a:solidFill>
              <a:srgbClr val="F973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B1AD4-E23B-4256-8759-67C62ACE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29300"/>
            <a:ext cx="9010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9E5EF"/>
                </a:solidFill>
              </a:defRPr>
            </a:pPr>
            <a:r>
              <a:rPr sz="2700" b="1">
                <a:solidFill>
                  <a:srgbClr val="C9E5EF"/>
                </a:solidFill>
              </a:rPr>
              <a:t>而是能发现真实问题、提出好问题、判断好答案，并组织 AI 和人一起完成复杂创造的人。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689A5-29EC-4C19-B507-A8480B8B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81813"/>
            <a:ext cx="1219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3F55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F3A5E-32AA-42F9-85B0-22EEA812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97230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观察真实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D766C-CFEC-4034-A84B-FBC2D701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881813"/>
            <a:ext cx="1219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3F55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4C407-23AF-4F7D-BB9D-C16DFF15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97230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D4BF"/>
                </a:solidFill>
              </a:defRPr>
            </a:pPr>
            <a:r>
              <a:rPr sz="1650" b="1">
                <a:solidFill>
                  <a:srgbClr val="2DD4BF"/>
                </a:solidFill>
              </a:rPr>
              <a:t>抽象系统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C2D13-CEB3-41A1-AF50-AFF0136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881813"/>
            <a:ext cx="1219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3F55"/>
          </a:solidFill>
          <a:ln xmlns:a="http://schemas.openxmlformats.org/drawingml/2006/main" w="9525">
            <a:solidFill>
              <a:srgbClr val="F4B7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AF1CA-6F23-4490-8590-D5401BE5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97230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B740"/>
                </a:solidFill>
              </a:defRPr>
            </a:pPr>
            <a:r>
              <a:rPr sz="1650" b="1">
                <a:solidFill>
                  <a:srgbClr val="F4B740"/>
                </a:solidFill>
              </a:rPr>
              <a:t>定义需求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B4763-4583-4FDB-8191-556BE000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881813"/>
            <a:ext cx="1063752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3F55"/>
          </a:solidFill>
          <a:ln xmlns:a="http://schemas.openxmlformats.org/drawingml/2006/main" w="9525">
            <a:solidFill>
              <a:srgbClr val="F973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F006F-4EA3-4458-AC09-63EB2525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723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9735B"/>
                </a:solidFill>
              </a:defRPr>
            </a:pPr>
            <a:r>
              <a:rPr sz="1650" b="1">
                <a:solidFill>
                  <a:srgbClr val="F9735B"/>
                </a:solidFill>
              </a:rPr>
              <a:t>验收 AI</a:t>
            </a:r>
          </a:p>
        </p:txBody>
      </p:sp>
    </p:spTree>
    <p:extLst>
      <p:ext uri="{BB962C8B-B14F-4D97-AF65-F5344CB8AC3E}">
        <p14:creationId xmlns:p14="http://schemas.microsoft.com/office/powerpoint/2010/main" val="1754449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2026-04-27T02:07:26.7320000Z</dcterms:created>
  <dcterms:modified xsi:type="dcterms:W3CDTF">2026-04-27T02:07:26.7320000Z</dcterms:modified>
</coreProperties>
</file>